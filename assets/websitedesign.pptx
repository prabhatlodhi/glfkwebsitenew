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70" r:id="rId2"/>
    <p:sldId id="256" r:id="rId3"/>
    <p:sldId id="260" r:id="rId4"/>
    <p:sldId id="264" r:id="rId5"/>
    <p:sldId id="267" r:id="rId6"/>
    <p:sldId id="268" r:id="rId7"/>
    <p:sldId id="263" r:id="rId8"/>
    <p:sldId id="269" r:id="rId9"/>
    <p:sldId id="261" r:id="rId10"/>
    <p:sldId id="25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2221"/>
  </p:normalViewPr>
  <p:slideViewPr>
    <p:cSldViewPr snapToGrid="0">
      <p:cViewPr>
        <p:scale>
          <a:sx n="100" d="100"/>
          <a:sy n="100" d="100"/>
        </p:scale>
        <p:origin x="100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1937B-6AC7-1C45-8EC5-685BAF37E624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13FB7-53EE-5546-8B97-5F7AB391D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3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13FB7-53EE-5546-8B97-5F7AB391DD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39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13FB7-53EE-5546-8B97-5F7AB391DD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46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13FB7-53EE-5546-8B97-5F7AB391DD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5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13FB7-53EE-5546-8B97-5F7AB391DD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8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BD7C-D74B-3DB4-06BC-722B237C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49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9C9FD1E-96D8-D304-337E-E744790D8714}"/>
              </a:ext>
            </a:extLst>
          </p:cNvPr>
          <p:cNvGrpSpPr/>
          <p:nvPr/>
        </p:nvGrpSpPr>
        <p:grpSpPr>
          <a:xfrm>
            <a:off x="0" y="474622"/>
            <a:ext cx="12192000" cy="1088804"/>
            <a:chOff x="0" y="482822"/>
            <a:chExt cx="12192000" cy="1088804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85F96C2-FD69-5628-2C77-A224D17CBC6E}"/>
                </a:ext>
              </a:extLst>
            </p:cNvPr>
            <p:cNvSpPr/>
            <p:nvPr/>
          </p:nvSpPr>
          <p:spPr>
            <a:xfrm>
              <a:off x="0" y="482822"/>
              <a:ext cx="12192000" cy="1088804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 descr="A blue and green logo&#10;&#10;Description automatically generated">
              <a:extLst>
                <a:ext uri="{FF2B5EF4-FFF2-40B4-BE49-F238E27FC236}">
                  <a16:creationId xmlns:a16="http://schemas.microsoft.com/office/drawing/2014/main" id="{3E62FC06-6DAD-28CE-49E7-ED434309D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437" y="745731"/>
              <a:ext cx="3290889" cy="61827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B19B0C-1232-1007-9F2E-C40BF47D21D6}"/>
                </a:ext>
              </a:extLst>
            </p:cNvPr>
            <p:cNvSpPr txBox="1"/>
            <p:nvPr/>
          </p:nvSpPr>
          <p:spPr>
            <a:xfrm>
              <a:off x="5395912" y="885592"/>
              <a:ext cx="8334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Aptos" panose="020B0004020202020204" pitchFamily="34" charset="0"/>
                </a:rPr>
                <a:t>About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0E10B9-A41C-DEE6-5A57-33EFE9EA3685}"/>
                </a:ext>
              </a:extLst>
            </p:cNvPr>
            <p:cNvSpPr txBox="1"/>
            <p:nvPr/>
          </p:nvSpPr>
          <p:spPr>
            <a:xfrm>
              <a:off x="6243637" y="885592"/>
              <a:ext cx="11001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Aptos" panose="020B0004020202020204" pitchFamily="34" charset="0"/>
                </a:rPr>
                <a:t>Services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9A5F36-89A8-F59D-B321-7BB07BAE836A}"/>
                </a:ext>
              </a:extLst>
            </p:cNvPr>
            <p:cNvSpPr txBox="1"/>
            <p:nvPr/>
          </p:nvSpPr>
          <p:spPr>
            <a:xfrm>
              <a:off x="7269956" y="885592"/>
              <a:ext cx="11001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Aptos" panose="020B0004020202020204" pitchFamily="34" charset="0"/>
                </a:rPr>
                <a:t>Products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2C888E-2EDC-1D30-B0DC-F779431AC48B}"/>
                </a:ext>
              </a:extLst>
            </p:cNvPr>
            <p:cNvSpPr txBox="1"/>
            <p:nvPr/>
          </p:nvSpPr>
          <p:spPr>
            <a:xfrm>
              <a:off x="8436769" y="885592"/>
              <a:ext cx="11001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Aptos" panose="020B0004020202020204" pitchFamily="34" charset="0"/>
                </a:rPr>
                <a:t>Careers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633D62-04AC-2DD8-A703-1C5F9690DE69}"/>
                </a:ext>
              </a:extLst>
            </p:cNvPr>
            <p:cNvSpPr txBox="1"/>
            <p:nvPr/>
          </p:nvSpPr>
          <p:spPr>
            <a:xfrm>
              <a:off x="10440590" y="885592"/>
              <a:ext cx="15097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Aptos" panose="020B0004020202020204" pitchFamily="34" charset="0"/>
                </a:rPr>
                <a:t>Let's Connect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1D2156C-82CD-864D-995C-3F8770EB4881}"/>
              </a:ext>
            </a:extLst>
          </p:cNvPr>
          <p:cNvSpPr txBox="1"/>
          <p:nvPr/>
        </p:nvSpPr>
        <p:spPr>
          <a:xfrm>
            <a:off x="363537" y="2136822"/>
            <a:ext cx="6400800" cy="3975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ts val="6823"/>
              </a:lnSpc>
              <a:buNone/>
            </a:pPr>
            <a:r>
              <a:rPr lang="en-US" sz="40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Transforming </a:t>
            </a:r>
            <a:r>
              <a:rPr lang="en-US" sz="4000" b="1" dirty="0">
                <a:solidFill>
                  <a:srgbClr val="92D0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r>
              <a:rPr lang="en-US" sz="40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into Actionable Insights</a:t>
            </a:r>
            <a:endParaRPr lang="en-US" sz="4000" b="1" dirty="0"/>
          </a:p>
          <a:p>
            <a:pPr>
              <a:spcBef>
                <a:spcPts val="1125"/>
              </a:spcBef>
              <a:spcAft>
                <a:spcPts val="2250"/>
              </a:spcAft>
            </a:pPr>
            <a:r>
              <a:rPr lang="en-IN" b="0" i="0" dirty="0">
                <a:effectLst/>
                <a:latin typeface="Aptos" panose="020B0004020202020204" pitchFamily="34" charset="0"/>
              </a:rPr>
              <a:t>A leading data &amp; advanced analytics company. We empower businesses to make data-driven decisions for a smarter future.</a:t>
            </a:r>
          </a:p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E3A5A2-48A1-1563-D5A2-54E7E94D8345}"/>
              </a:ext>
            </a:extLst>
          </p:cNvPr>
          <p:cNvCxnSpPr/>
          <p:nvPr/>
        </p:nvCxnSpPr>
        <p:spPr>
          <a:xfrm>
            <a:off x="571500" y="6215063"/>
            <a:ext cx="657225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C8EFDF-CF7C-075E-48A0-9DEE2AF6FC0D}"/>
              </a:ext>
            </a:extLst>
          </p:cNvPr>
          <p:cNvCxnSpPr/>
          <p:nvPr/>
        </p:nvCxnSpPr>
        <p:spPr>
          <a:xfrm>
            <a:off x="1354931" y="6215063"/>
            <a:ext cx="657225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03D040D-D2F9-8DB7-4DAF-D1F0EFD2AC48}"/>
              </a:ext>
            </a:extLst>
          </p:cNvPr>
          <p:cNvCxnSpPr/>
          <p:nvPr/>
        </p:nvCxnSpPr>
        <p:spPr>
          <a:xfrm>
            <a:off x="2181225" y="6215063"/>
            <a:ext cx="657225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59FB14-5B2A-C46E-2B72-BD2C6F0BE9BF}"/>
              </a:ext>
            </a:extLst>
          </p:cNvPr>
          <p:cNvCxnSpPr/>
          <p:nvPr/>
        </p:nvCxnSpPr>
        <p:spPr>
          <a:xfrm>
            <a:off x="2962275" y="6215063"/>
            <a:ext cx="657225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F873E7-F352-A31B-28AA-AFEE93FB51DC}"/>
              </a:ext>
            </a:extLst>
          </p:cNvPr>
          <p:cNvCxnSpPr/>
          <p:nvPr/>
        </p:nvCxnSpPr>
        <p:spPr>
          <a:xfrm>
            <a:off x="3824288" y="6215063"/>
            <a:ext cx="657225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E127BD-54BB-BE00-4B14-9A02DE09D929}"/>
              </a:ext>
            </a:extLst>
          </p:cNvPr>
          <p:cNvCxnSpPr/>
          <p:nvPr/>
        </p:nvCxnSpPr>
        <p:spPr>
          <a:xfrm>
            <a:off x="4610100" y="6215063"/>
            <a:ext cx="657225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F2B4736-4AE0-5521-4EA5-1293673A3C7B}"/>
              </a:ext>
            </a:extLst>
          </p:cNvPr>
          <p:cNvSpPr txBox="1"/>
          <p:nvPr/>
        </p:nvSpPr>
        <p:spPr>
          <a:xfrm>
            <a:off x="564355" y="6273053"/>
            <a:ext cx="5679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can be scrolling or clickable images  about 6 slides</a:t>
            </a:r>
          </a:p>
        </p:txBody>
      </p:sp>
      <p:pic>
        <p:nvPicPr>
          <p:cNvPr id="26" name="Picture 25" descr="A group of cubes with different objects on it&#10;&#10;Description automatically generated">
            <a:extLst>
              <a:ext uri="{FF2B5EF4-FFF2-40B4-BE49-F238E27FC236}">
                <a16:creationId xmlns:a16="http://schemas.microsoft.com/office/drawing/2014/main" id="{C6134CEE-16C6-7840-37A9-D0D3CFE28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956" y="1974396"/>
            <a:ext cx="4680347" cy="358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05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background with white dots&#10;&#10;Description automatically generated">
            <a:extLst>
              <a:ext uri="{FF2B5EF4-FFF2-40B4-BE49-F238E27FC236}">
                <a16:creationId xmlns:a16="http://schemas.microsoft.com/office/drawing/2014/main" id="{447BB016-251D-B0CE-C679-FEF13F2E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60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F983BE-48B4-99DF-18E0-5261E2E5EB63}"/>
              </a:ext>
            </a:extLst>
          </p:cNvPr>
          <p:cNvSpPr txBox="1"/>
          <p:nvPr/>
        </p:nvSpPr>
        <p:spPr>
          <a:xfrm>
            <a:off x="492124" y="807134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ptos" panose="020B0004020202020204" pitchFamily="34" charset="0"/>
              </a:rPr>
              <a:t>Why Us 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FDAB68-19F7-B661-9F5B-DC4339F2FA14}"/>
              </a:ext>
            </a:extLst>
          </p:cNvPr>
          <p:cNvSpPr/>
          <p:nvPr/>
        </p:nvSpPr>
        <p:spPr>
          <a:xfrm>
            <a:off x="492124" y="2005332"/>
            <a:ext cx="2552700" cy="2692400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IN" sz="1400" b="1" dirty="0">
                <a:solidFill>
                  <a:srgbClr val="0E0E0E"/>
                </a:solidFill>
                <a:effectLst/>
                <a:latin typeface="Aptos" panose="020B0004020202020204" pitchFamily="34" charset="0"/>
              </a:rPr>
              <a:t>We fuse masterful craftsmanship with agility, unleashing reliable, scalable innovation</a:t>
            </a:r>
          </a:p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C63770-BAA0-E47B-E048-C91C656D4574}"/>
              </a:ext>
            </a:extLst>
          </p:cNvPr>
          <p:cNvSpPr/>
          <p:nvPr/>
        </p:nvSpPr>
        <p:spPr>
          <a:xfrm>
            <a:off x="3536948" y="1980566"/>
            <a:ext cx="2552700" cy="2692400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49C4FC-9F6A-1847-9DB3-F8DEA216EF5D}"/>
              </a:ext>
            </a:extLst>
          </p:cNvPr>
          <p:cNvSpPr/>
          <p:nvPr/>
        </p:nvSpPr>
        <p:spPr>
          <a:xfrm>
            <a:off x="6483349" y="1980566"/>
            <a:ext cx="2552700" cy="2692400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ED08B1-1B7B-9F54-7263-8C82DEA8D2BF}"/>
              </a:ext>
            </a:extLst>
          </p:cNvPr>
          <p:cNvSpPr/>
          <p:nvPr/>
        </p:nvSpPr>
        <p:spPr>
          <a:xfrm>
            <a:off x="9429750" y="2005332"/>
            <a:ext cx="2552700" cy="2692400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DDC6F3-D584-61EC-A50E-C9F114AA1158}"/>
              </a:ext>
            </a:extLst>
          </p:cNvPr>
          <p:cNvSpPr txBox="1"/>
          <p:nvPr/>
        </p:nvSpPr>
        <p:spPr>
          <a:xfrm>
            <a:off x="566143" y="2230388"/>
            <a:ext cx="2384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  <a:latin typeface="Aptos" panose="020B0004020202020204" pitchFamily="34" charset="0"/>
              </a:rPr>
              <a:t>Quality, Reliability &amp; </a:t>
            </a:r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Speed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D70B7F-D6CC-4F0B-3E91-8191ADC23811}"/>
              </a:ext>
            </a:extLst>
          </p:cNvPr>
          <p:cNvSpPr txBox="1"/>
          <p:nvPr/>
        </p:nvSpPr>
        <p:spPr>
          <a:xfrm>
            <a:off x="3526630" y="2192786"/>
            <a:ext cx="247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Aptos" panose="020B0004020202020204" pitchFamily="34" charset="0"/>
              </a:rPr>
              <a:t>Data Driven</a:t>
            </a:r>
            <a:r>
              <a:rPr lang="en-US" sz="1600" b="1" dirty="0">
                <a:solidFill>
                  <a:schemeClr val="accent4"/>
                </a:solidFill>
                <a:latin typeface="Aptos" panose="020B0004020202020204" pitchFamily="34" charset="0"/>
              </a:rPr>
              <a:t> Approach</a:t>
            </a:r>
            <a:endParaRPr lang="en-US" sz="16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525ECC-005B-E69C-63B9-E80398F6FB21}"/>
              </a:ext>
            </a:extLst>
          </p:cNvPr>
          <p:cNvSpPr txBox="1"/>
          <p:nvPr/>
        </p:nvSpPr>
        <p:spPr>
          <a:xfrm>
            <a:off x="3581001" y="2675386"/>
            <a:ext cx="246459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turn raw data into  we  turn raw data into meaningful insights, allowing businesses to make informed decisions that drive results and measurable impact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A2AEB-FFBD-4D44-9FFE-9165B278E4F4}"/>
              </a:ext>
            </a:extLst>
          </p:cNvPr>
          <p:cNvSpPr txBox="1"/>
          <p:nvPr/>
        </p:nvSpPr>
        <p:spPr>
          <a:xfrm>
            <a:off x="6561137" y="2192786"/>
            <a:ext cx="247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ptos" panose="020B0004020202020204" pitchFamily="34" charset="0"/>
              </a:rPr>
              <a:t>Innovation</a:t>
            </a:r>
            <a:r>
              <a:rPr lang="en-US" sz="1600" b="1" dirty="0">
                <a:solidFill>
                  <a:srgbClr val="002060"/>
                </a:solidFill>
                <a:latin typeface="Aptos" panose="020B0004020202020204" pitchFamily="34" charset="0"/>
              </a:rPr>
              <a:t> Labs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4D621F-C40E-D7D2-E7A1-461A939E61C7}"/>
              </a:ext>
            </a:extLst>
          </p:cNvPr>
          <p:cNvSpPr txBox="1"/>
          <p:nvPr/>
        </p:nvSpPr>
        <p:spPr>
          <a:xfrm>
            <a:off x="6527402" y="2753575"/>
            <a:ext cx="24645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IN" dirty="0"/>
              <a:t>Our commitment to R&amp;D powers the development of exclusive frameworks, research, and </a:t>
            </a:r>
            <a:r>
              <a:rPr lang="en-IN" dirty="0" err="1"/>
              <a:t>PoCs</a:t>
            </a:r>
            <a:r>
              <a:rPr lang="en-IN" dirty="0"/>
              <a:t> that fast-track value delivery</a:t>
            </a:r>
          </a:p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AB224F-A5C2-1334-EC4B-886C3178EFD1}"/>
              </a:ext>
            </a:extLst>
          </p:cNvPr>
          <p:cNvCxnSpPr>
            <a:cxnSpLocks/>
          </p:cNvCxnSpPr>
          <p:nvPr/>
        </p:nvCxnSpPr>
        <p:spPr>
          <a:xfrm>
            <a:off x="492124" y="1776631"/>
            <a:ext cx="25527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9DC5E9-FC5B-E2EB-D520-4082468C76EC}"/>
              </a:ext>
            </a:extLst>
          </p:cNvPr>
          <p:cNvCxnSpPr>
            <a:cxnSpLocks/>
          </p:cNvCxnSpPr>
          <p:nvPr/>
        </p:nvCxnSpPr>
        <p:spPr>
          <a:xfrm>
            <a:off x="3526630" y="1776631"/>
            <a:ext cx="25527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9828C0-B2FF-8E2C-2C6A-2AA0D5FE214B}"/>
              </a:ext>
            </a:extLst>
          </p:cNvPr>
          <p:cNvCxnSpPr>
            <a:cxnSpLocks/>
          </p:cNvCxnSpPr>
          <p:nvPr/>
        </p:nvCxnSpPr>
        <p:spPr>
          <a:xfrm>
            <a:off x="6483349" y="1776631"/>
            <a:ext cx="25527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22F107-7441-09C9-9105-DDB3D0BDF409}"/>
              </a:ext>
            </a:extLst>
          </p:cNvPr>
          <p:cNvCxnSpPr>
            <a:cxnSpLocks/>
          </p:cNvCxnSpPr>
          <p:nvPr/>
        </p:nvCxnSpPr>
        <p:spPr>
          <a:xfrm>
            <a:off x="9429750" y="1776631"/>
            <a:ext cx="25527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F1C2CB8-854A-39EB-FD27-CAE556F2CB38}"/>
              </a:ext>
            </a:extLst>
          </p:cNvPr>
          <p:cNvSpPr txBox="1"/>
          <p:nvPr/>
        </p:nvSpPr>
        <p:spPr>
          <a:xfrm>
            <a:off x="9468644" y="2178525"/>
            <a:ext cx="247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Aptos" panose="020B0004020202020204" pitchFamily="34" charset="0"/>
              </a:rPr>
              <a:t>Collaborative</a:t>
            </a:r>
            <a:r>
              <a:rPr lang="en-US" sz="1600" b="1" dirty="0">
                <a:solidFill>
                  <a:schemeClr val="accent4"/>
                </a:solidFill>
                <a:latin typeface="Aptos" panose="020B0004020202020204" pitchFamily="34" charset="0"/>
              </a:rPr>
              <a:t> Approach</a:t>
            </a:r>
            <a:endParaRPr lang="en-US" sz="16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CAFFC2-B119-375F-ED1C-FB396C6A6DDD}"/>
              </a:ext>
            </a:extLst>
          </p:cNvPr>
          <p:cNvSpPr txBox="1"/>
          <p:nvPr/>
        </p:nvSpPr>
        <p:spPr>
          <a:xfrm>
            <a:off x="9468644" y="2675386"/>
            <a:ext cx="246459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build long-term relationships with our clients, working together to achieve common goals and addressing unique business challenges.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66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2E0C1-D00A-C404-D581-DB88A1EF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surface with white text&#10;&#10;Description automatically generated">
            <a:extLst>
              <a:ext uri="{FF2B5EF4-FFF2-40B4-BE49-F238E27FC236}">
                <a16:creationId xmlns:a16="http://schemas.microsoft.com/office/drawing/2014/main" id="{D854259B-B48E-2AAE-7CAB-CD313296A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860802"/>
            <a:ext cx="12189911" cy="29971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F40CD8-5240-8660-19CA-BA5806D362BB}"/>
              </a:ext>
            </a:extLst>
          </p:cNvPr>
          <p:cNvSpPr txBox="1"/>
          <p:nvPr/>
        </p:nvSpPr>
        <p:spPr>
          <a:xfrm>
            <a:off x="492124" y="807134"/>
            <a:ext cx="3190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Aptos" panose="020B0004020202020204" pitchFamily="34" charset="0"/>
              </a:rPr>
              <a:t>What we do 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52EAF6-6438-6C34-AC72-293E0DE33915}"/>
              </a:ext>
            </a:extLst>
          </p:cNvPr>
          <p:cNvSpPr/>
          <p:nvPr/>
        </p:nvSpPr>
        <p:spPr>
          <a:xfrm>
            <a:off x="492124" y="2005332"/>
            <a:ext cx="2552700" cy="2692400"/>
          </a:xfrm>
          <a:prstGeom prst="rect">
            <a:avLst/>
          </a:prstGeom>
          <a:solidFill>
            <a:srgbClr val="C8E1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E0E0E"/>
                </a:solidFill>
                <a:effectLst/>
                <a:latin typeface="Aptos" panose="020B0004020202020204" pitchFamily="34" charset="0"/>
              </a:rPr>
              <a:t>Drive operational excellence, improve customer experiences, and innovate with data and analytics solutions.</a:t>
            </a:r>
          </a:p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2A054-46C4-778E-8FD4-E849212CAB7D}"/>
              </a:ext>
            </a:extLst>
          </p:cNvPr>
          <p:cNvSpPr/>
          <p:nvPr/>
        </p:nvSpPr>
        <p:spPr>
          <a:xfrm>
            <a:off x="3536948" y="1980566"/>
            <a:ext cx="2552700" cy="2692400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861B7-E674-0041-0127-BA073B60C1D0}"/>
              </a:ext>
            </a:extLst>
          </p:cNvPr>
          <p:cNvSpPr/>
          <p:nvPr/>
        </p:nvSpPr>
        <p:spPr>
          <a:xfrm>
            <a:off x="6483349" y="1980566"/>
            <a:ext cx="2552700" cy="2692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8DF8A8-1060-25CF-883A-C2C3A5FA4939}"/>
              </a:ext>
            </a:extLst>
          </p:cNvPr>
          <p:cNvSpPr/>
          <p:nvPr/>
        </p:nvSpPr>
        <p:spPr>
          <a:xfrm>
            <a:off x="9429750" y="2005332"/>
            <a:ext cx="2552700" cy="26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A72878-C55C-47E6-EF49-3DAE0C0100A3}"/>
              </a:ext>
            </a:extLst>
          </p:cNvPr>
          <p:cNvSpPr txBox="1"/>
          <p:nvPr/>
        </p:nvSpPr>
        <p:spPr>
          <a:xfrm>
            <a:off x="576461" y="2099798"/>
            <a:ext cx="2384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Data &amp; Analytics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82EE85-A172-35AD-23AD-2C7A184E58F9}"/>
              </a:ext>
            </a:extLst>
          </p:cNvPr>
          <p:cNvSpPr txBox="1"/>
          <p:nvPr/>
        </p:nvSpPr>
        <p:spPr>
          <a:xfrm>
            <a:off x="3565524" y="2132597"/>
            <a:ext cx="247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Aptos" panose="020B0004020202020204" pitchFamily="34" charset="0"/>
              </a:rPr>
              <a:t>Cloud Transformation</a:t>
            </a:r>
            <a:endParaRPr lang="en-US" sz="1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BDE84B-26AD-A5D1-FE3A-9A5E9D7AFE9A}"/>
              </a:ext>
            </a:extLst>
          </p:cNvPr>
          <p:cNvSpPr txBox="1"/>
          <p:nvPr/>
        </p:nvSpPr>
        <p:spPr>
          <a:xfrm>
            <a:off x="3581001" y="2675386"/>
            <a:ext cx="246459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0E0E0E"/>
                </a:solidFill>
                <a:effectLst/>
                <a:latin typeface="Aptos" panose="020B0004020202020204" pitchFamily="34" charset="0"/>
              </a:rPr>
              <a:t>Build a resilient infrastructure, reduce expenses, and enhance agility through cloud migration, optimization, and FinOps practices.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204887-AA10-8561-B8A0-F6E61691416E}"/>
              </a:ext>
            </a:extLst>
          </p:cNvPr>
          <p:cNvSpPr txBox="1"/>
          <p:nvPr/>
        </p:nvSpPr>
        <p:spPr>
          <a:xfrm>
            <a:off x="6498431" y="2132597"/>
            <a:ext cx="247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AI/ML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C71A91-4658-84E2-F108-ED83D0ABCE44}"/>
              </a:ext>
            </a:extLst>
          </p:cNvPr>
          <p:cNvSpPr txBox="1"/>
          <p:nvPr/>
        </p:nvSpPr>
        <p:spPr>
          <a:xfrm>
            <a:off x="6527402" y="2753575"/>
            <a:ext cx="24645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IN" dirty="0">
                <a:solidFill>
                  <a:srgbClr val="0E0E0E"/>
                </a:solidFill>
                <a:effectLst/>
                <a:latin typeface=".SF NS"/>
              </a:rPr>
              <a:t>Speed up innovation, strengthen your advantage, and create real business impact through AI/ML development services.</a:t>
            </a:r>
          </a:p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B485A2-3C0C-DE81-4F12-4340AEA51385}"/>
              </a:ext>
            </a:extLst>
          </p:cNvPr>
          <p:cNvCxnSpPr>
            <a:cxnSpLocks/>
          </p:cNvCxnSpPr>
          <p:nvPr/>
        </p:nvCxnSpPr>
        <p:spPr>
          <a:xfrm>
            <a:off x="492124" y="1776631"/>
            <a:ext cx="25527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F8B7E2-EA1A-408E-B2A3-D507079310ED}"/>
              </a:ext>
            </a:extLst>
          </p:cNvPr>
          <p:cNvCxnSpPr>
            <a:cxnSpLocks/>
          </p:cNvCxnSpPr>
          <p:nvPr/>
        </p:nvCxnSpPr>
        <p:spPr>
          <a:xfrm>
            <a:off x="3526630" y="1776631"/>
            <a:ext cx="25527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2F262B-95B3-DECF-DFDF-B668E95A0BA6}"/>
              </a:ext>
            </a:extLst>
          </p:cNvPr>
          <p:cNvCxnSpPr>
            <a:cxnSpLocks/>
          </p:cNvCxnSpPr>
          <p:nvPr/>
        </p:nvCxnSpPr>
        <p:spPr>
          <a:xfrm>
            <a:off x="6483349" y="1776631"/>
            <a:ext cx="25527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6B1560-F094-75E8-5851-8CE358663266}"/>
              </a:ext>
            </a:extLst>
          </p:cNvPr>
          <p:cNvCxnSpPr>
            <a:cxnSpLocks/>
          </p:cNvCxnSpPr>
          <p:nvPr/>
        </p:nvCxnSpPr>
        <p:spPr>
          <a:xfrm>
            <a:off x="9429750" y="1776631"/>
            <a:ext cx="25527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5A3B18-EEA5-D076-2F07-B6A9D2AFBD9C}"/>
              </a:ext>
            </a:extLst>
          </p:cNvPr>
          <p:cNvSpPr txBox="1"/>
          <p:nvPr/>
        </p:nvSpPr>
        <p:spPr>
          <a:xfrm>
            <a:off x="9380538" y="2099798"/>
            <a:ext cx="2474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Aptos" panose="020B0004020202020204" pitchFamily="34" charset="0"/>
              </a:rPr>
              <a:t>Custom Software Engineering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FAAC6F-F721-0843-C613-08589F9C4979}"/>
              </a:ext>
            </a:extLst>
          </p:cNvPr>
          <p:cNvSpPr txBox="1"/>
          <p:nvPr/>
        </p:nvSpPr>
        <p:spPr>
          <a:xfrm>
            <a:off x="9468644" y="2761961"/>
            <a:ext cx="246459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0E0E0E"/>
                </a:solidFill>
                <a:effectLst/>
                <a:latin typeface="Aptos" panose="020B0004020202020204" pitchFamily="34" charset="0"/>
              </a:rPr>
              <a:t>Design, build, and refine custom software—from solution architecture through core engineering to ongoing product evolution and support.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A884C-4E11-F2FC-E81C-3616E6CD4B0E}"/>
              </a:ext>
            </a:extLst>
          </p:cNvPr>
          <p:cNvSpPr txBox="1"/>
          <p:nvPr/>
        </p:nvSpPr>
        <p:spPr>
          <a:xfrm>
            <a:off x="1677787" y="4265760"/>
            <a:ext cx="128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 more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AB2B7-6718-233D-C286-EF4296BD63FB}"/>
              </a:ext>
            </a:extLst>
          </p:cNvPr>
          <p:cNvSpPr txBox="1"/>
          <p:nvPr/>
        </p:nvSpPr>
        <p:spPr>
          <a:xfrm>
            <a:off x="4720428" y="4265760"/>
            <a:ext cx="128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 more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B8EC7-2E31-E3C8-B330-D42684E7B334}"/>
              </a:ext>
            </a:extLst>
          </p:cNvPr>
          <p:cNvSpPr txBox="1"/>
          <p:nvPr/>
        </p:nvSpPr>
        <p:spPr>
          <a:xfrm>
            <a:off x="7690643" y="4251834"/>
            <a:ext cx="128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 more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539E72-5EA8-6427-ECC3-0A368680157B}"/>
              </a:ext>
            </a:extLst>
          </p:cNvPr>
          <p:cNvSpPr txBox="1"/>
          <p:nvPr/>
        </p:nvSpPr>
        <p:spPr>
          <a:xfrm>
            <a:off x="10724356" y="4251834"/>
            <a:ext cx="128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 more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44724-0F21-2AA3-7691-08C6C1B22602}"/>
              </a:ext>
            </a:extLst>
          </p:cNvPr>
          <p:cNvSpPr txBox="1"/>
          <p:nvPr/>
        </p:nvSpPr>
        <p:spPr>
          <a:xfrm>
            <a:off x="492124" y="5060598"/>
            <a:ext cx="471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 more: Direct the links to services page</a:t>
            </a:r>
          </a:p>
        </p:txBody>
      </p:sp>
    </p:spTree>
    <p:extLst>
      <p:ext uri="{BB962C8B-B14F-4D97-AF65-F5344CB8AC3E}">
        <p14:creationId xmlns:p14="http://schemas.microsoft.com/office/powerpoint/2010/main" val="2376642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purple cover with text and images&#10;&#10;Description automatically generated">
            <a:extLst>
              <a:ext uri="{FF2B5EF4-FFF2-40B4-BE49-F238E27FC236}">
                <a16:creationId xmlns:a16="http://schemas.microsoft.com/office/drawing/2014/main" id="{8CE2B0D7-3051-4AC7-FD7D-64601CA04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599" y="0"/>
            <a:ext cx="8766696" cy="684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7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0D2CF-BD50-2B78-CE4D-3CD1E11C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ata sculpting&#10;&#10;Description automatically generated">
            <a:extLst>
              <a:ext uri="{FF2B5EF4-FFF2-40B4-BE49-F238E27FC236}">
                <a16:creationId xmlns:a16="http://schemas.microsoft.com/office/drawing/2014/main" id="{5992B830-7E10-C209-33FD-F8439A7E8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45" y="0"/>
            <a:ext cx="9110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33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750F0-D453-4509-4A1C-584F5A2BB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white graphic with text&#10;&#10;Description automatically generated">
            <a:extLst>
              <a:ext uri="{FF2B5EF4-FFF2-40B4-BE49-F238E27FC236}">
                <a16:creationId xmlns:a16="http://schemas.microsoft.com/office/drawing/2014/main" id="{42EA0950-0B8E-E1AF-2F83-2366EFE1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70" y="0"/>
            <a:ext cx="9318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64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2B477-F7FB-BB20-0D80-7512BED2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screen with black text&#10;&#10;Description automatically generated">
            <a:extLst>
              <a:ext uri="{FF2B5EF4-FFF2-40B4-BE49-F238E27FC236}">
                <a16:creationId xmlns:a16="http://schemas.microsoft.com/office/drawing/2014/main" id="{B25AEC48-302E-77E7-7CD4-BC83870F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69" y="0"/>
            <a:ext cx="9110749" cy="428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6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D2A6B3-FE0B-9F34-B310-11A13E809A97}"/>
              </a:ext>
            </a:extLst>
          </p:cNvPr>
          <p:cNvSpPr/>
          <p:nvPr/>
        </p:nvSpPr>
        <p:spPr>
          <a:xfrm>
            <a:off x="444500" y="279400"/>
            <a:ext cx="11264900" cy="6019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112BE-7F97-BF93-E857-861F8A357CD6}"/>
              </a:ext>
            </a:extLst>
          </p:cNvPr>
          <p:cNvSpPr txBox="1"/>
          <p:nvPr/>
        </p:nvSpPr>
        <p:spPr>
          <a:xfrm>
            <a:off x="1016000" y="635000"/>
            <a:ext cx="495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Begin Your Journey with Us Today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C82836-56A2-11E2-855C-846B2D8EA912}"/>
              </a:ext>
            </a:extLst>
          </p:cNvPr>
          <p:cNvSpPr txBox="1"/>
          <p:nvPr/>
        </p:nvSpPr>
        <p:spPr>
          <a:xfrm>
            <a:off x="1016000" y="1835329"/>
            <a:ext cx="4483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dirty="0">
                <a:solidFill>
                  <a:schemeClr val="accent4"/>
                </a:solidFill>
                <a:effectLst/>
                <a:latin typeface="DA_FuturaPTWeb"/>
              </a:rPr>
              <a:t>Looking for a partner to help accelerate your technology roadmap? Fill out the form to start the conversation today.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9B2A26-3C3B-95FB-94CF-420D1D21155D}"/>
              </a:ext>
            </a:extLst>
          </p:cNvPr>
          <p:cNvSpPr/>
          <p:nvPr/>
        </p:nvSpPr>
        <p:spPr>
          <a:xfrm>
            <a:off x="6502400" y="635000"/>
            <a:ext cx="4673600" cy="4826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effectLst/>
                <a:latin typeface=".SF NS"/>
              </a:rPr>
              <a:t>First Name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205B78-A2E9-1498-5467-1A4AF13E7B21}"/>
              </a:ext>
            </a:extLst>
          </p:cNvPr>
          <p:cNvSpPr/>
          <p:nvPr/>
        </p:nvSpPr>
        <p:spPr>
          <a:xfrm>
            <a:off x="6502400" y="1279288"/>
            <a:ext cx="4673600" cy="482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effectLst/>
                <a:latin typeface=".SF NS"/>
              </a:rPr>
              <a:t>Last 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CF136C-625A-65A8-7E76-61C75EDA31DE}"/>
              </a:ext>
            </a:extLst>
          </p:cNvPr>
          <p:cNvSpPr/>
          <p:nvPr/>
        </p:nvSpPr>
        <p:spPr>
          <a:xfrm>
            <a:off x="6502400" y="1909170"/>
            <a:ext cx="4673600" cy="482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effectLst/>
                <a:latin typeface=".SF NS"/>
              </a:rPr>
              <a:t>Email Address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54033B-792F-4A5B-D7A0-B70BBC08B13E}"/>
              </a:ext>
            </a:extLst>
          </p:cNvPr>
          <p:cNvSpPr/>
          <p:nvPr/>
        </p:nvSpPr>
        <p:spPr>
          <a:xfrm>
            <a:off x="6502400" y="2538673"/>
            <a:ext cx="4673600" cy="482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effectLst/>
                <a:latin typeface=".SF NS"/>
              </a:rPr>
              <a:t>Company Name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3C8A94-49F0-9212-7313-438298410138}"/>
              </a:ext>
            </a:extLst>
          </p:cNvPr>
          <p:cNvSpPr/>
          <p:nvPr/>
        </p:nvSpPr>
        <p:spPr>
          <a:xfrm>
            <a:off x="6502400" y="3168176"/>
            <a:ext cx="4673600" cy="482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effectLst/>
                <a:latin typeface=".SF NS"/>
              </a:rPr>
              <a:t>Phone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308A61-98B3-ED42-B4CA-1E86FCC3A50F}"/>
              </a:ext>
            </a:extLst>
          </p:cNvPr>
          <p:cNvSpPr/>
          <p:nvPr/>
        </p:nvSpPr>
        <p:spPr>
          <a:xfrm>
            <a:off x="6502400" y="3794267"/>
            <a:ext cx="4673600" cy="482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.SF NS"/>
              </a:rPr>
              <a:t>What would you like to discuss ? </a:t>
            </a:r>
            <a:endParaRPr lang="en-IN" dirty="0">
              <a:solidFill>
                <a:schemeClr val="tx1"/>
              </a:solidFill>
              <a:effectLst/>
              <a:latin typeface=".SF 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B83D11-60F1-3600-8A67-702DEB4249EF}"/>
              </a:ext>
            </a:extLst>
          </p:cNvPr>
          <p:cNvSpPr/>
          <p:nvPr/>
        </p:nvSpPr>
        <p:spPr>
          <a:xfrm>
            <a:off x="6502400" y="5108812"/>
            <a:ext cx="1041400" cy="482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effectLst/>
                <a:latin typeface=".SF NS"/>
              </a:rPr>
              <a:t>Submit </a:t>
            </a:r>
          </a:p>
        </p:txBody>
      </p:sp>
    </p:spTree>
    <p:extLst>
      <p:ext uri="{BB962C8B-B14F-4D97-AF65-F5344CB8AC3E}">
        <p14:creationId xmlns:p14="http://schemas.microsoft.com/office/powerpoint/2010/main" val="1649539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0AD624-DD08-F84D-9DAF-057FB4EA9858}"/>
              </a:ext>
            </a:extLst>
          </p:cNvPr>
          <p:cNvSpPr txBox="1"/>
          <p:nvPr/>
        </p:nvSpPr>
        <p:spPr>
          <a:xfrm>
            <a:off x="4838700" y="63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blue and purple background&#10;&#10;Description automatically generated">
            <a:extLst>
              <a:ext uri="{FF2B5EF4-FFF2-40B4-BE49-F238E27FC236}">
                <a16:creationId xmlns:a16="http://schemas.microsoft.com/office/drawing/2014/main" id="{2F3F3127-5F85-3106-DF57-8B11C03D9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7982"/>
            <a:ext cx="12192000" cy="4152900"/>
          </a:xfrm>
          <a:prstGeom prst="rect">
            <a:avLst/>
          </a:prstGeom>
        </p:spPr>
      </p:pic>
      <p:sp>
        <p:nvSpPr>
          <p:cNvPr id="7" name="Round Diagonal Corner of Rectangle 6">
            <a:extLst>
              <a:ext uri="{FF2B5EF4-FFF2-40B4-BE49-F238E27FC236}">
                <a16:creationId xmlns:a16="http://schemas.microsoft.com/office/drawing/2014/main" id="{0CE6AC2C-9B1D-5E2E-63A8-75C86B195BC4}"/>
              </a:ext>
            </a:extLst>
          </p:cNvPr>
          <p:cNvSpPr/>
          <p:nvPr/>
        </p:nvSpPr>
        <p:spPr>
          <a:xfrm>
            <a:off x="622300" y="1219200"/>
            <a:ext cx="2692400" cy="3556000"/>
          </a:xfrm>
          <a:prstGeom prst="round2Diag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75% </a:t>
            </a:r>
          </a:p>
          <a:p>
            <a:pPr algn="ctr"/>
            <a:endParaRPr lang="en-US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Efficiency </a:t>
            </a:r>
            <a:r>
              <a:rPr lang="en-US" b="1" dirty="0">
                <a:solidFill>
                  <a:srgbClr val="FFC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Unleashed</a:t>
            </a:r>
          </a:p>
          <a:p>
            <a:pPr algn="ctr"/>
            <a:endParaRPr lang="en-US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Reduced development </a:t>
            </a:r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hours</a:t>
            </a: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 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pipelines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7CA0AA-C4D1-16D7-AB8C-751C46A2A5C8}"/>
              </a:ext>
            </a:extLst>
          </p:cNvPr>
          <p:cNvSpPr txBox="1"/>
          <p:nvPr/>
        </p:nvSpPr>
        <p:spPr>
          <a:xfrm>
            <a:off x="1968500" y="4305300"/>
            <a:ext cx="1168400" cy="2794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Case study </a:t>
            </a:r>
            <a:r>
              <a:rPr lang="en-US" sz="1200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  <a:sym typeface="Wingdings" pitchFamily="2" charset="2"/>
              </a:rPr>
              <a:t></a:t>
            </a:r>
            <a:endParaRPr lang="en-US" sz="1200" b="1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12" name="Round Diagonal Corner of Rectangle 11">
            <a:extLst>
              <a:ext uri="{FF2B5EF4-FFF2-40B4-BE49-F238E27FC236}">
                <a16:creationId xmlns:a16="http://schemas.microsoft.com/office/drawing/2014/main" id="{CDB4DA9A-9196-2FA3-CEB2-279268B7D460}"/>
              </a:ext>
            </a:extLst>
          </p:cNvPr>
          <p:cNvSpPr/>
          <p:nvPr/>
        </p:nvSpPr>
        <p:spPr>
          <a:xfrm>
            <a:off x="4660900" y="1219200"/>
            <a:ext cx="2692400" cy="3556000"/>
          </a:xfrm>
          <a:prstGeom prst="round2Diag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12000 </a:t>
            </a:r>
          </a:p>
          <a:p>
            <a:pPr algn="ctr"/>
            <a:endParaRPr lang="en-US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b="1" dirty="0">
                <a:solidFill>
                  <a:srgbClr val="FFC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Your Data </a:t>
            </a: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Governed</a:t>
            </a:r>
          </a:p>
          <a:p>
            <a:pPr algn="ctr"/>
            <a:endParaRPr lang="en-US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b="1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Governance</a:t>
            </a: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amplified with onboarding of data assets to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governance platform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Round Diagonal Corner of Rectangle 12">
            <a:extLst>
              <a:ext uri="{FF2B5EF4-FFF2-40B4-BE49-F238E27FC236}">
                <a16:creationId xmlns:a16="http://schemas.microsoft.com/office/drawing/2014/main" id="{0DCBF544-0E5B-FB29-04A1-A9EBBC7DADA1}"/>
              </a:ext>
            </a:extLst>
          </p:cNvPr>
          <p:cNvSpPr/>
          <p:nvPr/>
        </p:nvSpPr>
        <p:spPr>
          <a:xfrm>
            <a:off x="8699500" y="1219200"/>
            <a:ext cx="2692400" cy="3556000"/>
          </a:xfrm>
          <a:prstGeom prst="round2Diag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50% </a:t>
            </a:r>
          </a:p>
          <a:p>
            <a:pPr algn="ctr"/>
            <a:endParaRPr lang="en-US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</a:t>
            </a:r>
            <a:r>
              <a:rPr lang="en-US" b="1" dirty="0">
                <a:solidFill>
                  <a:srgbClr val="FFC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Efficiency </a:t>
            </a:r>
          </a:p>
          <a:p>
            <a:pPr algn="ctr"/>
            <a:endParaRPr lang="en-US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Reduced business user </a:t>
            </a:r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hours</a:t>
            </a: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by half using  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Generative AI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C2931E-ED16-323C-06CF-4E7DC4B37EB9}"/>
              </a:ext>
            </a:extLst>
          </p:cNvPr>
          <p:cNvSpPr txBox="1"/>
          <p:nvPr/>
        </p:nvSpPr>
        <p:spPr>
          <a:xfrm>
            <a:off x="6007100" y="4318000"/>
            <a:ext cx="1168400" cy="2794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Case study </a:t>
            </a:r>
            <a:r>
              <a:rPr lang="en-US" sz="1200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  <a:sym typeface="Wingdings" pitchFamily="2" charset="2"/>
              </a:rPr>
              <a:t></a:t>
            </a:r>
            <a:endParaRPr lang="en-US" sz="1200" b="1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74600D-96F3-94A2-E84A-DE9160B21C80}"/>
              </a:ext>
            </a:extLst>
          </p:cNvPr>
          <p:cNvSpPr txBox="1"/>
          <p:nvPr/>
        </p:nvSpPr>
        <p:spPr>
          <a:xfrm>
            <a:off x="10039350" y="4330700"/>
            <a:ext cx="1168400" cy="2794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Case study </a:t>
            </a:r>
            <a:r>
              <a:rPr lang="en-US" sz="1200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  <a:sym typeface="Wingdings" pitchFamily="2" charset="2"/>
              </a:rPr>
              <a:t></a:t>
            </a:r>
            <a:endParaRPr lang="en-US" sz="1200" b="1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DE324-23EA-CD8E-8551-90FBE57C5025}"/>
              </a:ext>
            </a:extLst>
          </p:cNvPr>
          <p:cNvSpPr txBox="1"/>
          <p:nvPr/>
        </p:nvSpPr>
        <p:spPr>
          <a:xfrm>
            <a:off x="482600" y="161151"/>
            <a:ext cx="530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Aptos" panose="020B0004020202020204" pitchFamily="34" charset="0"/>
              </a:rPr>
              <a:t>Key Metrics We </a:t>
            </a:r>
            <a:r>
              <a:rPr lang="en-US" sz="3600" dirty="0" err="1">
                <a:solidFill>
                  <a:srgbClr val="002060"/>
                </a:solidFill>
                <a:latin typeface="Aptos" panose="020B0004020202020204" pitchFamily="34" charset="0"/>
              </a:rPr>
              <a:t>elivered</a:t>
            </a:r>
            <a:endParaRPr lang="en-US" sz="36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823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1C105-4EE1-0083-8FE8-212FE64E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2243B1-EDB9-5BD6-41F8-A7AD01CF23CB}"/>
              </a:ext>
            </a:extLst>
          </p:cNvPr>
          <p:cNvSpPr txBox="1"/>
          <p:nvPr/>
        </p:nvSpPr>
        <p:spPr>
          <a:xfrm>
            <a:off x="4838700" y="63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A blue and purple background&#10;&#10;Description automatically generated">
            <a:extLst>
              <a:ext uri="{FF2B5EF4-FFF2-40B4-BE49-F238E27FC236}">
                <a16:creationId xmlns:a16="http://schemas.microsoft.com/office/drawing/2014/main" id="{9F84C99A-D3FB-484D-B583-2F0812A77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6450"/>
            <a:ext cx="12192000" cy="4457831"/>
          </a:xfrm>
          <a:prstGeom prst="rect">
            <a:avLst/>
          </a:prstGeom>
          <a:effectLst>
            <a:glow>
              <a:schemeClr val="tx1"/>
            </a:glow>
            <a:outerShdw algn="ctr" rotWithShape="0">
              <a:srgbClr val="C8E1FF"/>
            </a:outerShdw>
            <a:reflection stA="0" endPos="65000" dist="50800" dir="5400000" sy="-100000" algn="bl" rotWithShape="0"/>
            <a:softEdge rad="0"/>
          </a:effec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D1312A-A413-3C44-4BA0-267BB59ECBBA}"/>
              </a:ext>
            </a:extLst>
          </p:cNvPr>
          <p:cNvSpPr/>
          <p:nvPr/>
        </p:nvSpPr>
        <p:spPr>
          <a:xfrm>
            <a:off x="1930400" y="-233125"/>
            <a:ext cx="9067800" cy="17367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0E0E0E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Let’s Build Something Great Together</a:t>
            </a:r>
            <a:endParaRPr lang="en-IN" sz="2400" dirty="0">
              <a:solidFill>
                <a:srgbClr val="0E0E0E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F082FBD-2CA9-34B9-BA25-658AD69309FA}"/>
              </a:ext>
            </a:extLst>
          </p:cNvPr>
          <p:cNvGrpSpPr/>
          <p:nvPr/>
        </p:nvGrpSpPr>
        <p:grpSpPr>
          <a:xfrm>
            <a:off x="1270000" y="3059668"/>
            <a:ext cx="1905000" cy="1348436"/>
            <a:chOff x="1270000" y="3059668"/>
            <a:chExt cx="1905000" cy="134843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F111782-B365-6907-3302-EE6A2C1CD1BB}"/>
                </a:ext>
              </a:extLst>
            </p:cNvPr>
            <p:cNvSpPr txBox="1"/>
            <p:nvPr/>
          </p:nvSpPr>
          <p:spPr>
            <a:xfrm>
              <a:off x="1270000" y="3059668"/>
              <a:ext cx="132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Company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6AEF27-0927-BE2F-661B-90ACB04BA6E8}"/>
                </a:ext>
              </a:extLst>
            </p:cNvPr>
            <p:cNvSpPr txBox="1"/>
            <p:nvPr/>
          </p:nvSpPr>
          <p:spPr>
            <a:xfrm>
              <a:off x="1270000" y="3567154"/>
              <a:ext cx="876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C000"/>
                  </a:solidFill>
                </a:rPr>
                <a:t>About Us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295962-11A9-36E9-3478-914569841C9C}"/>
                </a:ext>
              </a:extLst>
            </p:cNvPr>
            <p:cNvSpPr txBox="1"/>
            <p:nvPr/>
          </p:nvSpPr>
          <p:spPr>
            <a:xfrm>
              <a:off x="1270000" y="3844153"/>
              <a:ext cx="1320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C000"/>
                  </a:solidFill>
                </a:rPr>
                <a:t>Privacy Policy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A45604-B81F-325A-9CE2-81FFA5CB0E3F}"/>
                </a:ext>
              </a:extLst>
            </p:cNvPr>
            <p:cNvSpPr txBox="1"/>
            <p:nvPr/>
          </p:nvSpPr>
          <p:spPr>
            <a:xfrm>
              <a:off x="1282700" y="4131105"/>
              <a:ext cx="1892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C000"/>
                  </a:solidFill>
                </a:rPr>
                <a:t>Company Presentation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41CDF7C-E529-721F-CECD-2325B37C75AE}"/>
              </a:ext>
            </a:extLst>
          </p:cNvPr>
          <p:cNvSpPr txBox="1"/>
          <p:nvPr/>
        </p:nvSpPr>
        <p:spPr>
          <a:xfrm>
            <a:off x="4064000" y="3059668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83E176-7D80-B14D-E446-5D261981FC30}"/>
              </a:ext>
            </a:extLst>
          </p:cNvPr>
          <p:cNvSpPr txBox="1"/>
          <p:nvPr/>
        </p:nvSpPr>
        <p:spPr>
          <a:xfrm>
            <a:off x="4064000" y="3567154"/>
            <a:ext cx="1612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</a:rPr>
              <a:t>Cloud Transformation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A4CF49-D583-8FB1-702F-6A00C192767D}"/>
              </a:ext>
            </a:extLst>
          </p:cNvPr>
          <p:cNvSpPr txBox="1"/>
          <p:nvPr/>
        </p:nvSpPr>
        <p:spPr>
          <a:xfrm>
            <a:off x="4064000" y="3844153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</a:rPr>
              <a:t>Data &amp; Analytics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1AC501-C12C-B0B0-D0C4-1503F7CDC9F9}"/>
              </a:ext>
            </a:extLst>
          </p:cNvPr>
          <p:cNvSpPr txBox="1"/>
          <p:nvPr/>
        </p:nvSpPr>
        <p:spPr>
          <a:xfrm>
            <a:off x="4076700" y="4131105"/>
            <a:ext cx="1892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</a:rPr>
              <a:t>AI &amp; ML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2BE7AA-17A6-A7C1-911F-1169FFD8DC77}"/>
              </a:ext>
            </a:extLst>
          </p:cNvPr>
          <p:cNvGrpSpPr/>
          <p:nvPr/>
        </p:nvGrpSpPr>
        <p:grpSpPr>
          <a:xfrm>
            <a:off x="5638800" y="3059668"/>
            <a:ext cx="1905000" cy="1348436"/>
            <a:chOff x="1270000" y="3059668"/>
            <a:chExt cx="1905000" cy="134843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3D8358C-ED2B-0F55-0756-28D07A92B9E9}"/>
                </a:ext>
              </a:extLst>
            </p:cNvPr>
            <p:cNvSpPr txBox="1"/>
            <p:nvPr/>
          </p:nvSpPr>
          <p:spPr>
            <a:xfrm>
              <a:off x="1270000" y="3059668"/>
              <a:ext cx="132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3B81C1E-B7B3-BB2E-CACC-B888F5B4C242}"/>
                </a:ext>
              </a:extLst>
            </p:cNvPr>
            <p:cNvSpPr txBox="1"/>
            <p:nvPr/>
          </p:nvSpPr>
          <p:spPr>
            <a:xfrm>
              <a:off x="1270000" y="3567154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4"/>
                  </a:solidFill>
                </a:rPr>
                <a:t>Custom Software Design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9542877-00D3-60AD-24D1-1AAFE80DD22C}"/>
                </a:ext>
              </a:extLst>
            </p:cNvPr>
            <p:cNvSpPr txBox="1"/>
            <p:nvPr/>
          </p:nvSpPr>
          <p:spPr>
            <a:xfrm>
              <a:off x="1270000" y="3844153"/>
              <a:ext cx="1320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4"/>
                  </a:solidFill>
                </a:rPr>
                <a:t>Managed Services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62C776-1B4B-3502-3EE8-B26D25CD7D53}"/>
                </a:ext>
              </a:extLst>
            </p:cNvPr>
            <p:cNvSpPr txBox="1"/>
            <p:nvPr/>
          </p:nvSpPr>
          <p:spPr>
            <a:xfrm>
              <a:off x="1282700" y="4131105"/>
              <a:ext cx="1892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4"/>
                  </a:solidFill>
                </a:rPr>
                <a:t>Gleafink Solution Advisory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503C038-1EA4-CCEC-B3FB-99F01A31F7D4}"/>
              </a:ext>
            </a:extLst>
          </p:cNvPr>
          <p:cNvGrpSpPr/>
          <p:nvPr/>
        </p:nvGrpSpPr>
        <p:grpSpPr>
          <a:xfrm>
            <a:off x="8166100" y="3059668"/>
            <a:ext cx="1905000" cy="1348436"/>
            <a:chOff x="1270000" y="3059668"/>
            <a:chExt cx="1905000" cy="134843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D2C5FAB-5113-48DD-2682-3082FDA81913}"/>
                </a:ext>
              </a:extLst>
            </p:cNvPr>
            <p:cNvSpPr txBox="1"/>
            <p:nvPr/>
          </p:nvSpPr>
          <p:spPr>
            <a:xfrm>
              <a:off x="1270000" y="3059668"/>
              <a:ext cx="132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Industry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E693B2E-7B5A-05E4-20DB-05685699F19B}"/>
                </a:ext>
              </a:extLst>
            </p:cNvPr>
            <p:cNvSpPr txBox="1"/>
            <p:nvPr/>
          </p:nvSpPr>
          <p:spPr>
            <a:xfrm>
              <a:off x="1270000" y="3567154"/>
              <a:ext cx="15266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Shipping &amp; Logistics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5B099AC-9DF3-14D9-29E1-6F957AA0841B}"/>
                </a:ext>
              </a:extLst>
            </p:cNvPr>
            <p:cNvSpPr txBox="1"/>
            <p:nvPr/>
          </p:nvSpPr>
          <p:spPr>
            <a:xfrm>
              <a:off x="1270000" y="3844153"/>
              <a:ext cx="1320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Retail Industry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38B2B1B-3A9D-67EA-9D72-EF3A9F8C8952}"/>
                </a:ext>
              </a:extLst>
            </p:cNvPr>
            <p:cNvSpPr txBox="1"/>
            <p:nvPr/>
          </p:nvSpPr>
          <p:spPr>
            <a:xfrm>
              <a:off x="1282700" y="4131105"/>
              <a:ext cx="1892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Internet 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BF9951C-483A-542F-ED00-2FB5254E2C1F}"/>
              </a:ext>
            </a:extLst>
          </p:cNvPr>
          <p:cNvGrpSpPr/>
          <p:nvPr/>
        </p:nvGrpSpPr>
        <p:grpSpPr>
          <a:xfrm>
            <a:off x="10569575" y="3035365"/>
            <a:ext cx="1320800" cy="1317469"/>
            <a:chOff x="8178800" y="4866971"/>
            <a:chExt cx="1320800" cy="131746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458F86-4937-DC73-3AA0-A1F0435121DA}"/>
                </a:ext>
              </a:extLst>
            </p:cNvPr>
            <p:cNvSpPr txBox="1"/>
            <p:nvPr/>
          </p:nvSpPr>
          <p:spPr>
            <a:xfrm>
              <a:off x="8178800" y="536271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Wisconsin</a:t>
              </a:r>
              <a:endPara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53E5F71-CDBB-11CB-7C78-798C9E08545C}"/>
                </a:ext>
              </a:extLst>
            </p:cNvPr>
            <p:cNvSpPr txBox="1"/>
            <p:nvPr/>
          </p:nvSpPr>
          <p:spPr>
            <a:xfrm>
              <a:off x="8178800" y="5619687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Dubai</a:t>
              </a:r>
              <a:endParaRPr lang="en-US" sz="10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79A77E0-5C09-E1AE-D8BE-41F6165453CA}"/>
                </a:ext>
              </a:extLst>
            </p:cNvPr>
            <p:cNvSpPr txBox="1"/>
            <p:nvPr/>
          </p:nvSpPr>
          <p:spPr>
            <a:xfrm>
              <a:off x="8178800" y="5876663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India</a:t>
              </a:r>
              <a:endParaRPr lang="en-US" sz="1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F12D8C3-132E-6997-51F4-A535992AD1BF}"/>
                </a:ext>
              </a:extLst>
            </p:cNvPr>
            <p:cNvSpPr txBox="1"/>
            <p:nvPr/>
          </p:nvSpPr>
          <p:spPr>
            <a:xfrm>
              <a:off x="8178800" y="4866971"/>
              <a:ext cx="132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Locations</a:t>
              </a:r>
            </a:p>
          </p:txBody>
        </p:sp>
      </p:grpSp>
      <p:pic>
        <p:nvPicPr>
          <p:cNvPr id="56" name="Picture 55" descr="A blue and green logo&#10;&#10;Description automatically generated">
            <a:extLst>
              <a:ext uri="{FF2B5EF4-FFF2-40B4-BE49-F238E27FC236}">
                <a16:creationId xmlns:a16="http://schemas.microsoft.com/office/drawing/2014/main" id="{A1D74586-5F68-DFB9-FE0F-83081D112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5362773"/>
            <a:ext cx="2082800" cy="419668"/>
          </a:xfrm>
          <a:prstGeom prst="rect">
            <a:avLst/>
          </a:prstGeom>
        </p:spPr>
      </p:pic>
      <p:pic>
        <p:nvPicPr>
          <p:cNvPr id="70" name="Picture 69" descr="A blue and black logo&#10;&#10;Description automatically generated">
            <a:extLst>
              <a:ext uri="{FF2B5EF4-FFF2-40B4-BE49-F238E27FC236}">
                <a16:creationId xmlns:a16="http://schemas.microsoft.com/office/drawing/2014/main" id="{124ED8AE-8E83-9E3D-9743-7D8F6040B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" y="5905765"/>
            <a:ext cx="444500" cy="444500"/>
          </a:xfrm>
          <a:prstGeom prst="rect">
            <a:avLst/>
          </a:prstGeom>
        </p:spPr>
      </p:pic>
      <p:pic>
        <p:nvPicPr>
          <p:cNvPr id="72" name="Picture 7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3D41D0B0-6771-DA50-5776-CF98B5E07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6250" y="5811348"/>
            <a:ext cx="635000" cy="635000"/>
          </a:xfrm>
          <a:prstGeom prst="rect">
            <a:avLst/>
          </a:prstGeom>
        </p:spPr>
      </p:pic>
      <p:pic>
        <p:nvPicPr>
          <p:cNvPr id="74" name="Picture 73" descr="A blue square with black text&#10;&#10;Description automatically generated">
            <a:extLst>
              <a:ext uri="{FF2B5EF4-FFF2-40B4-BE49-F238E27FC236}">
                <a16:creationId xmlns:a16="http://schemas.microsoft.com/office/drawing/2014/main" id="{98FD4A05-A38E-0E76-FF45-D81E9F291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300" y="5911310"/>
            <a:ext cx="406400" cy="392546"/>
          </a:xfrm>
          <a:prstGeom prst="rect">
            <a:avLst/>
          </a:prstGeom>
        </p:spPr>
      </p:pic>
      <p:pic>
        <p:nvPicPr>
          <p:cNvPr id="76" name="Picture 75" descr="A blue x in a square&#10;&#10;Description automatically generated">
            <a:extLst>
              <a:ext uri="{FF2B5EF4-FFF2-40B4-BE49-F238E27FC236}">
                <a16:creationId xmlns:a16="http://schemas.microsoft.com/office/drawing/2014/main" id="{70B4E41C-BCA9-59A2-E687-851612C949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6700" y="5913379"/>
            <a:ext cx="429273" cy="390478"/>
          </a:xfrm>
          <a:prstGeom prst="rect">
            <a:avLst/>
          </a:prstGeom>
        </p:spPr>
      </p:pic>
      <p:pic>
        <p:nvPicPr>
          <p:cNvPr id="78" name="Picture 77" descr="A blue and black logo&#10;&#10;Description automatically generated">
            <a:extLst>
              <a:ext uri="{FF2B5EF4-FFF2-40B4-BE49-F238E27FC236}">
                <a16:creationId xmlns:a16="http://schemas.microsoft.com/office/drawing/2014/main" id="{8FCB448A-2839-9705-89BB-CFDC3229C5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2150" y="5905765"/>
            <a:ext cx="429273" cy="429273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7B700AD-F2C3-0E88-5FD1-6F0447F3DF98}"/>
              </a:ext>
            </a:extLst>
          </p:cNvPr>
          <p:cNvSpPr txBox="1"/>
          <p:nvPr/>
        </p:nvSpPr>
        <p:spPr>
          <a:xfrm>
            <a:off x="5871542" y="5895708"/>
            <a:ext cx="13795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@2024 Gleafink Inc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58121A6-65AB-3666-30FD-A3FB2F067620}"/>
              </a:ext>
            </a:extLst>
          </p:cNvPr>
          <p:cNvCxnSpPr>
            <a:cxnSpLocks/>
          </p:cNvCxnSpPr>
          <p:nvPr/>
        </p:nvCxnSpPr>
        <p:spPr>
          <a:xfrm>
            <a:off x="7212304" y="5938252"/>
            <a:ext cx="0" cy="18976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6149710-6F1F-50B3-B33A-0696D59CB06F}"/>
              </a:ext>
            </a:extLst>
          </p:cNvPr>
          <p:cNvCxnSpPr>
            <a:cxnSpLocks/>
          </p:cNvCxnSpPr>
          <p:nvPr/>
        </p:nvCxnSpPr>
        <p:spPr>
          <a:xfrm>
            <a:off x="7835900" y="5924933"/>
            <a:ext cx="0" cy="19546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488AD3E-EC86-F097-CDEB-B1D7C131A032}"/>
              </a:ext>
            </a:extLst>
          </p:cNvPr>
          <p:cNvCxnSpPr>
            <a:cxnSpLocks/>
          </p:cNvCxnSpPr>
          <p:nvPr/>
        </p:nvCxnSpPr>
        <p:spPr>
          <a:xfrm>
            <a:off x="8929429" y="5891754"/>
            <a:ext cx="0" cy="261825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1FDEF9B-AEFF-2F40-FF03-DA3816333702}"/>
              </a:ext>
            </a:extLst>
          </p:cNvPr>
          <p:cNvSpPr txBox="1"/>
          <p:nvPr/>
        </p:nvSpPr>
        <p:spPr>
          <a:xfrm>
            <a:off x="7200251" y="5884167"/>
            <a:ext cx="814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2060"/>
                </a:solidFill>
              </a:rPr>
              <a:t>Security</a:t>
            </a:r>
            <a:endParaRPr lang="en-US" sz="900" b="1" dirty="0">
              <a:solidFill>
                <a:srgbClr val="00206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A5A4501-199B-1F71-F98E-EAF306A94FF3}"/>
              </a:ext>
            </a:extLst>
          </p:cNvPr>
          <p:cNvSpPr txBox="1"/>
          <p:nvPr/>
        </p:nvSpPr>
        <p:spPr>
          <a:xfrm>
            <a:off x="7805765" y="5905765"/>
            <a:ext cx="1219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Saas Agreement</a:t>
            </a:r>
            <a:endParaRPr lang="en-US" sz="1000" b="1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3D551E-629A-7EC6-26CC-56720DE7A884}"/>
              </a:ext>
            </a:extLst>
          </p:cNvPr>
          <p:cNvSpPr txBox="1"/>
          <p:nvPr/>
        </p:nvSpPr>
        <p:spPr>
          <a:xfrm>
            <a:off x="8929429" y="5912475"/>
            <a:ext cx="19240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Processing Agreement</a:t>
            </a:r>
            <a:endParaRPr lang="en-US" sz="1000" b="1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571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1586</TotalTime>
  <Words>394</Words>
  <Application>Microsoft Macintosh PowerPoint</Application>
  <PresentationFormat>Widescreen</PresentationFormat>
  <Paragraphs>91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.SF NS</vt:lpstr>
      <vt:lpstr>Aptos</vt:lpstr>
      <vt:lpstr>Arial</vt:lpstr>
      <vt:lpstr>Calibri</vt:lpstr>
      <vt:lpstr>Calibri Light</vt:lpstr>
      <vt:lpstr>DA_FuturaPTWeb</vt:lpstr>
      <vt:lpstr>Heebo</vt:lpstr>
      <vt:lpstr>Lato</vt:lpstr>
      <vt:lpstr>Montserrat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D</dc:creator>
  <cp:lastModifiedBy>Karthik D</cp:lastModifiedBy>
  <cp:revision>31</cp:revision>
  <cp:lastPrinted>2024-11-13T16:35:30Z</cp:lastPrinted>
  <dcterms:created xsi:type="dcterms:W3CDTF">2024-11-12T14:36:34Z</dcterms:created>
  <dcterms:modified xsi:type="dcterms:W3CDTF">2024-11-13T17:03:33Z</dcterms:modified>
</cp:coreProperties>
</file>